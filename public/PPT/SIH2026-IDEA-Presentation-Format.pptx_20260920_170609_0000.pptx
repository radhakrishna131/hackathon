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Canva Sans" charset="1" panose="020B0503030501040103"/>
      <p:regular r:id="rId15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Calibri (MS)" charset="1" panose="020F0502020204030204"/>
      <p:regular r:id="rId21"/>
    </p:embeddedFont>
    <p:embeddedFont>
      <p:font typeface="Canva Sans Bold" charset="1" panose="020B0803030501040103"/>
      <p:regular r:id="rId22"/>
    </p:embeddedFont>
    <p:embeddedFont>
      <p:font typeface="Arial Italics" charset="1" panose="020B060402020209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6.jpe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9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6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techsnap.in" TargetMode="External" Type="http://schemas.openxmlformats.org/officeDocument/2006/relationships/hyperlink"/><Relationship Id="rId2" Target="../notesSlides/notesSlide5.xml" Type="http://schemas.openxmlformats.org/officeDocument/2006/relationships/notesSlide"/><Relationship Id="rId3" Target="../media/image17.jpe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https://github.com/radhakrishna131/Hackathon" TargetMode="External" Type="http://schemas.openxmlformats.org/officeDocument/2006/relationships/hyperlink"/><Relationship Id="rId9" Target="https://sankalp-sih.vercel.app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88369" y="2731770"/>
            <a:ext cx="7680960" cy="70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</a:p>
          <a:p>
            <a:pPr algn="just" marL="574937" indent="-287469" lvl="1">
              <a:lnSpc>
                <a:spcPts val="7624"/>
              </a:lnSpc>
              <a:buFont typeface="Arial"/>
              <a:buChar char="•"/>
            </a:pPr>
            <a:r>
              <a:rPr lang="en-US" b="true" sz="3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26075</a:t>
            </a:r>
          </a:p>
          <a:p>
            <a:pPr algn="just" marL="574937" indent="-287469" lvl="1">
              <a:lnSpc>
                <a:spcPts val="7624"/>
              </a:lnSpc>
              <a:buFont typeface="Arial"/>
              <a:buChar char="•"/>
            </a:pPr>
            <a:r>
              <a:rPr lang="en-US" b="true" sz="3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</a:p>
          <a:p>
            <a:pPr algn="just">
              <a:lnSpc>
                <a:spcPts val="7624"/>
              </a:lnSpc>
            </a:pPr>
          </a:p>
          <a:p>
            <a:pPr algn="just" marL="574937" indent="-287469" lvl="1">
              <a:lnSpc>
                <a:spcPts val="7624"/>
              </a:lnSpc>
              <a:buFont typeface="Arial"/>
              <a:buChar char="•"/>
            </a:pPr>
            <a:r>
              <a:rPr lang="en-US" b="true" sz="3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Smart Education</a:t>
            </a:r>
          </a:p>
          <a:p>
            <a:pPr algn="just" marL="574937" indent="-287469" lvl="1">
              <a:lnSpc>
                <a:spcPts val="7624"/>
              </a:lnSpc>
              <a:buFont typeface="Arial"/>
              <a:buChar char="•"/>
            </a:pPr>
            <a:r>
              <a:rPr lang="en-US" b="true" sz="3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just" marL="574937" indent="-287469" lvl="1">
              <a:lnSpc>
                <a:spcPts val="7624"/>
              </a:lnSpc>
              <a:buFont typeface="Arial"/>
              <a:buChar char="•"/>
            </a:pPr>
            <a:r>
              <a:rPr lang="en-US" b="true" sz="3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algn="just" marL="574937" indent="-287469" lvl="1">
              <a:lnSpc>
                <a:spcPts val="7624"/>
              </a:lnSpc>
              <a:buFont typeface="Arial"/>
              <a:buChar char="•"/>
            </a:pPr>
            <a:r>
              <a:rPr lang="en-US" b="true" sz="3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Sankalp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42546" y="4438963"/>
            <a:ext cx="23306549" cy="1823120"/>
            <a:chOff x="0" y="0"/>
            <a:chExt cx="31075398" cy="243082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879098"/>
              <a:ext cx="24477875" cy="15517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CONNECT – A Digital Capacity Building </a:t>
              </a:r>
            </a:p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and Learning Management Portal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597523" y="-66675"/>
              <a:ext cx="24477875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CAPACITY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63742" y="6418016"/>
            <a:ext cx="14969959" cy="5680567"/>
          </a:xfrm>
          <a:custGeom>
            <a:avLst/>
            <a:gdLst/>
            <a:ahLst/>
            <a:cxnLst/>
            <a:rect r="r" b="b" t="t" l="l"/>
            <a:pathLst>
              <a:path h="5680567" w="14969959">
                <a:moveTo>
                  <a:pt x="0" y="0"/>
                </a:moveTo>
                <a:lnTo>
                  <a:pt x="14969959" y="0"/>
                </a:lnTo>
                <a:lnTo>
                  <a:pt x="14969959" y="5680568"/>
                </a:lnTo>
                <a:lnTo>
                  <a:pt x="0" y="56805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15" t="-33165" r="-7577" b="0"/>
            </a:stretch>
          </a:blipFill>
          <a:ln w="66675" cap="rnd">
            <a:solidFill>
              <a:srgbClr val="000000"/>
            </a:solidFill>
            <a:prstDash val="solid"/>
            <a:round/>
          </a:ln>
        </p:spPr>
      </p:sp>
      <p:grpSp>
        <p:nvGrpSpPr>
          <p:cNvPr name="Group 3" id="3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74501" y="0"/>
            <a:ext cx="16459200" cy="1901168"/>
            <a:chOff x="0" y="0"/>
            <a:chExt cx="21945600" cy="25348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534890"/>
            </a:xfrm>
            <a:custGeom>
              <a:avLst/>
              <a:gdLst/>
              <a:ahLst/>
              <a:cxnLst/>
              <a:rect r="r" b="b" t="t" l="l"/>
              <a:pathLst>
                <a:path h="25348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599" r="0" b="-1137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45600" cy="256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CAPACITY CONNECT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6408001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Capacity Connect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Sankalp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181455" y="2397843"/>
            <a:ext cx="4644471" cy="3215479"/>
            <a:chOff x="0" y="0"/>
            <a:chExt cx="1223235" cy="8468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23235" cy="846875"/>
            </a:xfrm>
            <a:custGeom>
              <a:avLst/>
              <a:gdLst/>
              <a:ahLst/>
              <a:cxnLst/>
              <a:rect r="r" b="b" t="t" l="l"/>
              <a:pathLst>
                <a:path h="846875" w="1223235">
                  <a:moveTo>
                    <a:pt x="90013" y="0"/>
                  </a:moveTo>
                  <a:lnTo>
                    <a:pt x="1133222" y="0"/>
                  </a:lnTo>
                  <a:cubicBezTo>
                    <a:pt x="1157095" y="0"/>
                    <a:pt x="1179990" y="9484"/>
                    <a:pt x="1196871" y="26364"/>
                  </a:cubicBezTo>
                  <a:cubicBezTo>
                    <a:pt x="1213752" y="43245"/>
                    <a:pt x="1223235" y="66140"/>
                    <a:pt x="1223235" y="90013"/>
                  </a:cubicBezTo>
                  <a:lnTo>
                    <a:pt x="1223235" y="756862"/>
                  </a:lnTo>
                  <a:cubicBezTo>
                    <a:pt x="1223235" y="806575"/>
                    <a:pt x="1182935" y="846875"/>
                    <a:pt x="1133222" y="846875"/>
                  </a:cubicBezTo>
                  <a:lnTo>
                    <a:pt x="90013" y="846875"/>
                  </a:lnTo>
                  <a:cubicBezTo>
                    <a:pt x="40300" y="846875"/>
                    <a:pt x="0" y="806575"/>
                    <a:pt x="0" y="756862"/>
                  </a:cubicBezTo>
                  <a:lnTo>
                    <a:pt x="0" y="90013"/>
                  </a:lnTo>
                  <a:cubicBezTo>
                    <a:pt x="0" y="40300"/>
                    <a:pt x="40300" y="0"/>
                    <a:pt x="90013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223235" cy="86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100690" y="2359153"/>
            <a:ext cx="4644471" cy="3215479"/>
            <a:chOff x="0" y="0"/>
            <a:chExt cx="1223235" cy="84687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23235" cy="846875"/>
            </a:xfrm>
            <a:custGeom>
              <a:avLst/>
              <a:gdLst/>
              <a:ahLst/>
              <a:cxnLst/>
              <a:rect r="r" b="b" t="t" l="l"/>
              <a:pathLst>
                <a:path h="846875" w="1223235">
                  <a:moveTo>
                    <a:pt x="90013" y="0"/>
                  </a:moveTo>
                  <a:lnTo>
                    <a:pt x="1133222" y="0"/>
                  </a:lnTo>
                  <a:cubicBezTo>
                    <a:pt x="1157095" y="0"/>
                    <a:pt x="1179990" y="9484"/>
                    <a:pt x="1196871" y="26364"/>
                  </a:cubicBezTo>
                  <a:cubicBezTo>
                    <a:pt x="1213752" y="43245"/>
                    <a:pt x="1223235" y="66140"/>
                    <a:pt x="1223235" y="90013"/>
                  </a:cubicBezTo>
                  <a:lnTo>
                    <a:pt x="1223235" y="756862"/>
                  </a:lnTo>
                  <a:cubicBezTo>
                    <a:pt x="1223235" y="806575"/>
                    <a:pt x="1182935" y="846875"/>
                    <a:pt x="1133222" y="846875"/>
                  </a:cubicBezTo>
                  <a:lnTo>
                    <a:pt x="90013" y="846875"/>
                  </a:lnTo>
                  <a:cubicBezTo>
                    <a:pt x="40300" y="846875"/>
                    <a:pt x="0" y="806575"/>
                    <a:pt x="0" y="756862"/>
                  </a:cubicBezTo>
                  <a:lnTo>
                    <a:pt x="0" y="90013"/>
                  </a:lnTo>
                  <a:cubicBezTo>
                    <a:pt x="0" y="40300"/>
                    <a:pt x="40300" y="0"/>
                    <a:pt x="9001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223235" cy="86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04980" y="2361222"/>
            <a:ext cx="4644471" cy="3215479"/>
            <a:chOff x="0" y="0"/>
            <a:chExt cx="1223235" cy="8468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23235" cy="846875"/>
            </a:xfrm>
            <a:custGeom>
              <a:avLst/>
              <a:gdLst/>
              <a:ahLst/>
              <a:cxnLst/>
              <a:rect r="r" b="b" t="t" l="l"/>
              <a:pathLst>
                <a:path h="846875" w="1223235">
                  <a:moveTo>
                    <a:pt x="90013" y="0"/>
                  </a:moveTo>
                  <a:lnTo>
                    <a:pt x="1133222" y="0"/>
                  </a:lnTo>
                  <a:cubicBezTo>
                    <a:pt x="1157095" y="0"/>
                    <a:pt x="1179990" y="9484"/>
                    <a:pt x="1196871" y="26364"/>
                  </a:cubicBezTo>
                  <a:cubicBezTo>
                    <a:pt x="1213752" y="43245"/>
                    <a:pt x="1223235" y="66140"/>
                    <a:pt x="1223235" y="90013"/>
                  </a:cubicBezTo>
                  <a:lnTo>
                    <a:pt x="1223235" y="756862"/>
                  </a:lnTo>
                  <a:cubicBezTo>
                    <a:pt x="1223235" y="806575"/>
                    <a:pt x="1182935" y="846875"/>
                    <a:pt x="1133222" y="846875"/>
                  </a:cubicBezTo>
                  <a:lnTo>
                    <a:pt x="90013" y="846875"/>
                  </a:lnTo>
                  <a:cubicBezTo>
                    <a:pt x="40300" y="846875"/>
                    <a:pt x="0" y="806575"/>
                    <a:pt x="0" y="756862"/>
                  </a:cubicBezTo>
                  <a:lnTo>
                    <a:pt x="0" y="90013"/>
                  </a:lnTo>
                  <a:cubicBezTo>
                    <a:pt x="0" y="40300"/>
                    <a:pt x="40300" y="0"/>
                    <a:pt x="90013" y="0"/>
                  </a:cubicBezTo>
                  <a:close/>
                </a:path>
              </a:pathLst>
            </a:custGeom>
            <a:ln w="66675" cap="rnd">
              <a:solidFill>
                <a:srgbClr val="C8D1D9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223235" cy="86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88567" y="2605022"/>
            <a:ext cx="6567184" cy="2817212"/>
            <a:chOff x="0" y="0"/>
            <a:chExt cx="8756246" cy="3756282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1766582" y="1103207"/>
              <a:ext cx="6989664" cy="26530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6"/>
                </a:lnSpc>
              </a:pPr>
              <a:r>
                <a:rPr lang="en-US" b="true" sz="1911">
                  <a:solidFill>
                    <a:srgbClr val="54545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• Fragmented training records</a:t>
              </a:r>
            </a:p>
            <a:p>
              <a:pPr algn="l">
                <a:lnSpc>
                  <a:spcPts val="2676"/>
                </a:lnSpc>
              </a:pPr>
              <a:r>
                <a:rPr lang="en-US" b="true" sz="1911">
                  <a:solidFill>
                    <a:srgbClr val="54545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• Manual competency tracking</a:t>
              </a:r>
            </a:p>
            <a:p>
              <a:pPr algn="l">
                <a:lnSpc>
                  <a:spcPts val="2676"/>
                </a:lnSpc>
              </a:pPr>
              <a:r>
                <a:rPr lang="en-US" b="true" sz="1911">
                  <a:solidFill>
                    <a:srgbClr val="54545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• Lack of personalized learning</a:t>
              </a:r>
            </a:p>
            <a:p>
              <a:pPr algn="l">
                <a:lnSpc>
                  <a:spcPts val="2676"/>
                </a:lnSpc>
              </a:pPr>
              <a:r>
                <a:rPr lang="en-US" b="true" sz="1911">
                  <a:solidFill>
                    <a:srgbClr val="54545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• No analytics</a:t>
              </a:r>
            </a:p>
            <a:p>
              <a:pPr algn="l">
                <a:lnSpc>
                  <a:spcPts val="2676"/>
                </a:lnSpc>
              </a:pPr>
              <a:r>
                <a:rPr lang="en-US" b="true" sz="1911">
                  <a:solidFill>
                    <a:srgbClr val="54545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• Poor knowledge sharing</a:t>
              </a:r>
            </a:p>
            <a:p>
              <a:pPr algn="l">
                <a:lnSpc>
                  <a:spcPts val="2676"/>
                </a:lnSpc>
              </a:pP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-123825"/>
              <a:ext cx="7562652" cy="11889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545454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Problem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090064" y="2434463"/>
            <a:ext cx="4644471" cy="3215479"/>
            <a:chOff x="0" y="0"/>
            <a:chExt cx="1223235" cy="8468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23235" cy="846875"/>
            </a:xfrm>
            <a:custGeom>
              <a:avLst/>
              <a:gdLst/>
              <a:ahLst/>
              <a:cxnLst/>
              <a:rect r="r" b="b" t="t" l="l"/>
              <a:pathLst>
                <a:path h="846875" w="1223235">
                  <a:moveTo>
                    <a:pt x="90013" y="0"/>
                  </a:moveTo>
                  <a:lnTo>
                    <a:pt x="1133222" y="0"/>
                  </a:lnTo>
                  <a:cubicBezTo>
                    <a:pt x="1157095" y="0"/>
                    <a:pt x="1179990" y="9484"/>
                    <a:pt x="1196871" y="26364"/>
                  </a:cubicBezTo>
                  <a:cubicBezTo>
                    <a:pt x="1213752" y="43245"/>
                    <a:pt x="1223235" y="66140"/>
                    <a:pt x="1223235" y="90013"/>
                  </a:cubicBezTo>
                  <a:lnTo>
                    <a:pt x="1223235" y="756862"/>
                  </a:lnTo>
                  <a:cubicBezTo>
                    <a:pt x="1223235" y="806575"/>
                    <a:pt x="1182935" y="846875"/>
                    <a:pt x="1133222" y="846875"/>
                  </a:cubicBezTo>
                  <a:lnTo>
                    <a:pt x="90013" y="846875"/>
                  </a:lnTo>
                  <a:cubicBezTo>
                    <a:pt x="40300" y="846875"/>
                    <a:pt x="0" y="806575"/>
                    <a:pt x="0" y="756862"/>
                  </a:cubicBezTo>
                  <a:lnTo>
                    <a:pt x="0" y="90013"/>
                  </a:lnTo>
                  <a:cubicBezTo>
                    <a:pt x="0" y="40300"/>
                    <a:pt x="40300" y="0"/>
                    <a:pt x="90013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223235" cy="86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917765" y="2397843"/>
            <a:ext cx="4644471" cy="3215479"/>
            <a:chOff x="0" y="0"/>
            <a:chExt cx="1223235" cy="8468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23235" cy="846875"/>
            </a:xfrm>
            <a:custGeom>
              <a:avLst/>
              <a:gdLst/>
              <a:ahLst/>
              <a:cxnLst/>
              <a:rect r="r" b="b" t="t" l="l"/>
              <a:pathLst>
                <a:path h="846875" w="1223235">
                  <a:moveTo>
                    <a:pt x="90013" y="0"/>
                  </a:moveTo>
                  <a:lnTo>
                    <a:pt x="1133222" y="0"/>
                  </a:lnTo>
                  <a:cubicBezTo>
                    <a:pt x="1157095" y="0"/>
                    <a:pt x="1179990" y="9484"/>
                    <a:pt x="1196871" y="26364"/>
                  </a:cubicBezTo>
                  <a:cubicBezTo>
                    <a:pt x="1213752" y="43245"/>
                    <a:pt x="1223235" y="66140"/>
                    <a:pt x="1223235" y="90013"/>
                  </a:cubicBezTo>
                  <a:lnTo>
                    <a:pt x="1223235" y="756862"/>
                  </a:lnTo>
                  <a:cubicBezTo>
                    <a:pt x="1223235" y="806575"/>
                    <a:pt x="1182935" y="846875"/>
                    <a:pt x="1133222" y="846875"/>
                  </a:cubicBezTo>
                  <a:lnTo>
                    <a:pt x="90013" y="846875"/>
                  </a:lnTo>
                  <a:cubicBezTo>
                    <a:pt x="40300" y="846875"/>
                    <a:pt x="0" y="806575"/>
                    <a:pt x="0" y="756862"/>
                  </a:cubicBezTo>
                  <a:lnTo>
                    <a:pt x="0" y="90013"/>
                  </a:lnTo>
                  <a:cubicBezTo>
                    <a:pt x="0" y="40300"/>
                    <a:pt x="40300" y="0"/>
                    <a:pt x="90013" y="0"/>
                  </a:cubicBezTo>
                  <a:close/>
                </a:path>
              </a:pathLst>
            </a:custGeom>
            <a:solidFill>
              <a:srgbClr val="EAD051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223235" cy="86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309823" y="2605022"/>
            <a:ext cx="5466122" cy="3586391"/>
            <a:chOff x="0" y="0"/>
            <a:chExt cx="7288162" cy="4781854"/>
          </a:xfrm>
        </p:grpSpPr>
        <p:sp>
          <p:nvSpPr>
            <p:cNvPr name="TextBox 38" id="38"/>
            <p:cNvSpPr txBox="true"/>
            <p:nvPr/>
          </p:nvSpPr>
          <p:spPr>
            <a:xfrm rot="0">
              <a:off x="1661325" y="28575"/>
              <a:ext cx="5626837" cy="4753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3"/>
                </a:lnSpc>
              </a:pPr>
            </a:p>
            <a:p>
              <a:pPr algn="l">
                <a:lnSpc>
                  <a:spcPts val="2853"/>
                </a:lnSpc>
              </a:pPr>
            </a:p>
            <a:p>
              <a:pPr algn="l">
                <a:lnSpc>
                  <a:spcPts val="2853"/>
                </a:lnSpc>
              </a:pPr>
              <a:r>
                <a:rPr lang="en-US" b="true" sz="2037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• AI Skill Gap Analysis</a:t>
              </a:r>
            </a:p>
            <a:p>
              <a:pPr algn="l">
                <a:lnSpc>
                  <a:spcPts val="2853"/>
                </a:lnSpc>
              </a:pPr>
              <a:r>
                <a:rPr lang="en-US" b="true" sz="2037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• Semantic Search</a:t>
              </a:r>
            </a:p>
            <a:p>
              <a:pPr algn="l">
                <a:lnSpc>
                  <a:spcPts val="2853"/>
                </a:lnSpc>
              </a:pPr>
              <a:r>
                <a:rPr lang="en-US" b="true" sz="2037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• Knowledge Graph</a:t>
              </a:r>
            </a:p>
            <a:p>
              <a:pPr algn="l">
                <a:lnSpc>
                  <a:spcPts val="2853"/>
                </a:lnSpc>
              </a:pPr>
              <a:r>
                <a:rPr lang="en-US" b="true" sz="2037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• AI Recommendations</a:t>
              </a:r>
            </a:p>
            <a:p>
              <a:pPr algn="l">
                <a:lnSpc>
                  <a:spcPts val="2853"/>
                </a:lnSpc>
              </a:pPr>
              <a:r>
                <a:rPr lang="en-US" b="true" sz="2037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• Predictive Analytics</a:t>
              </a:r>
            </a:p>
            <a:p>
              <a:pPr algn="l">
                <a:lnSpc>
                  <a:spcPts val="2853"/>
                </a:lnSpc>
              </a:pPr>
            </a:p>
            <a:p>
              <a:pPr algn="l">
                <a:lnSpc>
                  <a:spcPts val="2853"/>
                </a:lnSpc>
              </a:pPr>
            </a:p>
            <a:p>
              <a:pPr algn="l">
                <a:lnSpc>
                  <a:spcPts val="2853"/>
                </a:lnSpc>
              </a:pP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0" y="-114300"/>
              <a:ext cx="7013672" cy="1170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b="true" sz="5199">
                  <a:solidFill>
                    <a:srgbClr val="0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Innovation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917765" y="2359153"/>
            <a:ext cx="4644471" cy="3215479"/>
            <a:chOff x="0" y="0"/>
            <a:chExt cx="1223235" cy="84687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23235" cy="846875"/>
            </a:xfrm>
            <a:custGeom>
              <a:avLst/>
              <a:gdLst/>
              <a:ahLst/>
              <a:cxnLst/>
              <a:rect r="r" b="b" t="t" l="l"/>
              <a:pathLst>
                <a:path h="846875" w="1223235">
                  <a:moveTo>
                    <a:pt x="90013" y="0"/>
                  </a:moveTo>
                  <a:lnTo>
                    <a:pt x="1133222" y="0"/>
                  </a:lnTo>
                  <a:cubicBezTo>
                    <a:pt x="1157095" y="0"/>
                    <a:pt x="1179990" y="9484"/>
                    <a:pt x="1196871" y="26364"/>
                  </a:cubicBezTo>
                  <a:cubicBezTo>
                    <a:pt x="1213752" y="43245"/>
                    <a:pt x="1223235" y="66140"/>
                    <a:pt x="1223235" y="90013"/>
                  </a:cubicBezTo>
                  <a:lnTo>
                    <a:pt x="1223235" y="756862"/>
                  </a:lnTo>
                  <a:cubicBezTo>
                    <a:pt x="1223235" y="806575"/>
                    <a:pt x="1182935" y="846875"/>
                    <a:pt x="1133222" y="846875"/>
                  </a:cubicBezTo>
                  <a:lnTo>
                    <a:pt x="90013" y="846875"/>
                  </a:lnTo>
                  <a:cubicBezTo>
                    <a:pt x="40300" y="846875"/>
                    <a:pt x="0" y="806575"/>
                    <a:pt x="0" y="756862"/>
                  </a:cubicBezTo>
                  <a:lnTo>
                    <a:pt x="0" y="90013"/>
                  </a:lnTo>
                  <a:cubicBezTo>
                    <a:pt x="0" y="40300"/>
                    <a:pt x="40300" y="0"/>
                    <a:pt x="90013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223235" cy="86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1586731" y="4960843"/>
            <a:ext cx="1446182" cy="1230570"/>
          </a:xfrm>
          <a:custGeom>
            <a:avLst/>
            <a:gdLst/>
            <a:ahLst/>
            <a:cxnLst/>
            <a:rect r="r" b="b" t="t" l="l"/>
            <a:pathLst>
              <a:path h="1230570" w="1446182">
                <a:moveTo>
                  <a:pt x="0" y="0"/>
                </a:moveTo>
                <a:lnTo>
                  <a:pt x="1446183" y="0"/>
                </a:lnTo>
                <a:lnTo>
                  <a:pt x="1446183" y="1230569"/>
                </a:lnTo>
                <a:lnTo>
                  <a:pt x="0" y="12305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7433973" y="2605022"/>
            <a:ext cx="4516679" cy="2723742"/>
            <a:chOff x="0" y="0"/>
            <a:chExt cx="6022239" cy="3631656"/>
          </a:xfrm>
        </p:grpSpPr>
        <p:sp>
          <p:nvSpPr>
            <p:cNvPr name="TextBox 45" id="45"/>
            <p:cNvSpPr txBox="true"/>
            <p:nvPr/>
          </p:nvSpPr>
          <p:spPr>
            <a:xfrm rot="0">
              <a:off x="570205" y="1069855"/>
              <a:ext cx="5452034" cy="25618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14"/>
                </a:lnSpc>
              </a:pPr>
              <a:r>
                <a:rPr lang="en-US" b="true" sz="15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• Unified AI-powered LMS</a:t>
              </a:r>
            </a:p>
            <a:p>
              <a:pPr algn="l">
                <a:lnSpc>
                  <a:spcPts val="2214"/>
                </a:lnSpc>
              </a:pPr>
              <a:r>
                <a:rPr lang="en-US" b="true" sz="15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• Competency Mapping</a:t>
              </a:r>
            </a:p>
            <a:p>
              <a:pPr algn="l">
                <a:lnSpc>
                  <a:spcPts val="2214"/>
                </a:lnSpc>
              </a:pPr>
              <a:r>
                <a:rPr lang="en-US" b="true" sz="15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• Personalized Learning Paths</a:t>
              </a:r>
            </a:p>
            <a:p>
              <a:pPr algn="l">
                <a:lnSpc>
                  <a:spcPts val="2214"/>
                </a:lnSpc>
              </a:pPr>
              <a:r>
                <a:rPr lang="en-US" b="true" sz="15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• Knowledge Repository</a:t>
              </a:r>
            </a:p>
            <a:p>
              <a:pPr algn="l">
                <a:lnSpc>
                  <a:spcPts val="2214"/>
                </a:lnSpc>
              </a:pPr>
              <a:r>
                <a:rPr lang="en-US" b="true" sz="15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• AI Chatbot</a:t>
              </a:r>
            </a:p>
            <a:p>
              <a:pPr algn="l">
                <a:lnSpc>
                  <a:spcPts val="2214"/>
                </a:lnSpc>
              </a:pPr>
              <a:r>
                <a:rPr lang="en-US" b="true" sz="15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• Smart Analytics</a:t>
              </a:r>
            </a:p>
            <a:p>
              <a:pPr algn="l">
                <a:lnSpc>
                  <a:spcPts val="2214"/>
                </a:lnSpc>
              </a:pP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0" y="-104775"/>
              <a:ext cx="5073825" cy="1212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</a:pPr>
              <a:r>
                <a:rPr lang="en-US" sz="5499" b="true">
                  <a:solidFill>
                    <a:srgbClr val="0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Our Solution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5612" y="1934563"/>
            <a:ext cx="4870720" cy="7306081"/>
          </a:xfrm>
          <a:custGeom>
            <a:avLst/>
            <a:gdLst/>
            <a:ahLst/>
            <a:cxnLst/>
            <a:rect r="r" b="b" t="t" l="l"/>
            <a:pathLst>
              <a:path h="7306081" w="4870720">
                <a:moveTo>
                  <a:pt x="0" y="0"/>
                </a:moveTo>
                <a:lnTo>
                  <a:pt x="4870720" y="0"/>
                </a:lnTo>
                <a:lnTo>
                  <a:pt x="4870720" y="7306080"/>
                </a:lnTo>
                <a:lnTo>
                  <a:pt x="0" y="7306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Capacity Connect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Sankalp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3892003" y="2028825"/>
            <a:ext cx="4152900" cy="6229350"/>
          </a:xfrm>
          <a:custGeom>
            <a:avLst/>
            <a:gdLst/>
            <a:ahLst/>
            <a:cxnLst/>
            <a:rect r="r" b="b" t="t" l="l"/>
            <a:pathLst>
              <a:path h="6229350" w="4152900">
                <a:moveTo>
                  <a:pt x="0" y="0"/>
                </a:moveTo>
                <a:lnTo>
                  <a:pt x="4152900" y="0"/>
                </a:lnTo>
                <a:lnTo>
                  <a:pt x="4152900" y="6229350"/>
                </a:lnTo>
                <a:lnTo>
                  <a:pt x="0" y="62293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300878" y="2505852"/>
            <a:ext cx="841257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0189" indent="-230094" lvl="1">
              <a:lnSpc>
                <a:spcPts val="3051"/>
              </a:lnSpc>
              <a:buFont typeface="Arial"/>
              <a:buChar char="•"/>
            </a:pPr>
            <a:r>
              <a:rPr lang="en-US" sz="2542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Frontend: Built with React 19, TypeScript, TanStack Start, Vite, Tailwind CSS v4, and shadcn/ui.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69013" y="3763152"/>
            <a:ext cx="8437581" cy="1380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4488" indent="-247244" lvl="1">
              <a:lnSpc>
                <a:spcPts val="2748"/>
              </a:lnSpc>
              <a:buFont typeface="Arial"/>
              <a:buChar char="•"/>
            </a:pPr>
            <a:r>
              <a:rPr lang="en-US" sz="2290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Database &amp; Storage: Supabase (PostgreSQL + Supabase Storage) for scalable database management, secure file storage, real-time data synchronization, and built-in authentication support.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10403" y="5738768"/>
            <a:ext cx="8154801" cy="234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7915" indent="-238958" lvl="1">
              <a:lnSpc>
                <a:spcPts val="1660"/>
              </a:lnSpc>
              <a:buFont typeface="Arial"/>
              <a:buChar char="•"/>
            </a:pPr>
            <a:r>
              <a:rPr lang="en-US" sz="2213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Authentication &amp; Security: Supabase Auth, JWT, RBAC</a:t>
            </a:r>
          </a:p>
          <a:p>
            <a:pPr algn="l">
              <a:lnSpc>
                <a:spcPts val="1660"/>
              </a:lnSpc>
            </a:pPr>
          </a:p>
          <a:p>
            <a:pPr algn="l" marL="477915" indent="-238958" lvl="1">
              <a:lnSpc>
                <a:spcPts val="1660"/>
              </a:lnSpc>
              <a:buFont typeface="Arial"/>
              <a:buChar char="•"/>
            </a:pPr>
            <a:r>
              <a:rPr lang="en-US" sz="2213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Artificial Intelligence: Integrated with Gemini through the</a:t>
            </a:r>
          </a:p>
          <a:p>
            <a:pPr algn="l">
              <a:lnSpc>
                <a:spcPts val="1660"/>
              </a:lnSpc>
            </a:pPr>
            <a:r>
              <a:rPr lang="en-US" sz="2213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      </a:t>
            </a:r>
          </a:p>
          <a:p>
            <a:pPr algn="l">
              <a:lnSpc>
                <a:spcPts val="1660"/>
              </a:lnSpc>
            </a:pPr>
            <a:r>
              <a:rPr lang="en-US" sz="2213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      cloud Gateway.</a:t>
            </a:r>
          </a:p>
          <a:p>
            <a:pPr algn="l">
              <a:lnSpc>
                <a:spcPts val="1660"/>
              </a:lnSpc>
            </a:pPr>
          </a:p>
          <a:p>
            <a:pPr algn="l" marL="477915" indent="-238958" lvl="1">
              <a:lnSpc>
                <a:spcPts val="1660"/>
              </a:lnSpc>
              <a:buFont typeface="Arial"/>
              <a:buChar char="•"/>
            </a:pPr>
            <a:r>
              <a:rPr lang="en-US" sz="2213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Certificate Generation: QR Code Verification</a:t>
            </a:r>
          </a:p>
          <a:p>
            <a:pPr algn="l">
              <a:lnSpc>
                <a:spcPts val="1660"/>
              </a:lnSpc>
            </a:pPr>
          </a:p>
          <a:p>
            <a:pPr algn="l" marL="477915" indent="-238958" lvl="1">
              <a:lnSpc>
                <a:spcPts val="1660"/>
              </a:lnSpc>
              <a:buFont typeface="Arial"/>
              <a:buChar char="•"/>
            </a:pPr>
            <a:r>
              <a:rPr lang="en-US" sz="2213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Deployment : Vercel</a:t>
            </a:r>
          </a:p>
          <a:p>
            <a:pPr algn="l">
              <a:lnSpc>
                <a:spcPts val="1660"/>
              </a:lnSpc>
            </a:pPr>
          </a:p>
          <a:p>
            <a:pPr algn="l" marL="477915" indent="-238958" lvl="1">
              <a:lnSpc>
                <a:spcPts val="1660"/>
              </a:lnSpc>
              <a:buFont typeface="Arial"/>
              <a:buChar char="•"/>
            </a:pPr>
            <a:r>
              <a:rPr lang="en-US" sz="2213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Version Control: Git &amp; GitHub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9167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Capacity Connect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Sankalp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1778301" y="1530833"/>
            <a:ext cx="5795600" cy="7727467"/>
          </a:xfrm>
          <a:custGeom>
            <a:avLst/>
            <a:gdLst/>
            <a:ahLst/>
            <a:cxnLst/>
            <a:rect r="r" b="b" t="t" l="l"/>
            <a:pathLst>
              <a:path h="7727467" w="5795600">
                <a:moveTo>
                  <a:pt x="0" y="0"/>
                </a:moveTo>
                <a:lnTo>
                  <a:pt x="5795600" y="0"/>
                </a:lnTo>
                <a:lnTo>
                  <a:pt x="5795600" y="7727467"/>
                </a:lnTo>
                <a:lnTo>
                  <a:pt x="0" y="7727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303142" y="1846628"/>
            <a:ext cx="4940551" cy="7052276"/>
            <a:chOff x="0" y="0"/>
            <a:chExt cx="1301215" cy="185739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01215" cy="1857390"/>
            </a:xfrm>
            <a:custGeom>
              <a:avLst/>
              <a:gdLst/>
              <a:ahLst/>
              <a:cxnLst/>
              <a:rect r="r" b="b" t="t" l="l"/>
              <a:pathLst>
                <a:path h="1857390" w="1301215">
                  <a:moveTo>
                    <a:pt x="79918" y="0"/>
                  </a:moveTo>
                  <a:lnTo>
                    <a:pt x="1221297" y="0"/>
                  </a:lnTo>
                  <a:cubicBezTo>
                    <a:pt x="1265435" y="0"/>
                    <a:pt x="1301215" y="35780"/>
                    <a:pt x="1301215" y="79918"/>
                  </a:cubicBezTo>
                  <a:lnTo>
                    <a:pt x="1301215" y="1777472"/>
                  </a:lnTo>
                  <a:cubicBezTo>
                    <a:pt x="1301215" y="1798668"/>
                    <a:pt x="1292795" y="1818995"/>
                    <a:pt x="1277808" y="1833982"/>
                  </a:cubicBezTo>
                  <a:cubicBezTo>
                    <a:pt x="1262820" y="1848970"/>
                    <a:pt x="1242493" y="1857390"/>
                    <a:pt x="1221297" y="1857390"/>
                  </a:cubicBezTo>
                  <a:lnTo>
                    <a:pt x="79918" y="1857390"/>
                  </a:lnTo>
                  <a:cubicBezTo>
                    <a:pt x="35780" y="1857390"/>
                    <a:pt x="0" y="1821609"/>
                    <a:pt x="0" y="1777472"/>
                  </a:cubicBezTo>
                  <a:lnTo>
                    <a:pt x="0" y="79918"/>
                  </a:lnTo>
                  <a:cubicBezTo>
                    <a:pt x="0" y="35780"/>
                    <a:pt x="35780" y="0"/>
                    <a:pt x="79918" y="0"/>
                  </a:cubicBezTo>
                  <a:close/>
                </a:path>
              </a:pathLst>
            </a:custGeom>
            <a:ln w="66675" cap="rnd">
              <a:solidFill>
                <a:srgbClr val="0070C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301215" cy="1876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601859" y="1868428"/>
            <a:ext cx="5853872" cy="3409088"/>
            <a:chOff x="0" y="0"/>
            <a:chExt cx="1541761" cy="89786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41761" cy="897867"/>
            </a:xfrm>
            <a:custGeom>
              <a:avLst/>
              <a:gdLst/>
              <a:ahLst/>
              <a:cxnLst/>
              <a:rect r="r" b="b" t="t" l="l"/>
              <a:pathLst>
                <a:path h="897867" w="1541761">
                  <a:moveTo>
                    <a:pt x="67449" y="0"/>
                  </a:moveTo>
                  <a:lnTo>
                    <a:pt x="1474312" y="0"/>
                  </a:lnTo>
                  <a:cubicBezTo>
                    <a:pt x="1492200" y="0"/>
                    <a:pt x="1509356" y="7106"/>
                    <a:pt x="1522005" y="19755"/>
                  </a:cubicBezTo>
                  <a:cubicBezTo>
                    <a:pt x="1534654" y="32405"/>
                    <a:pt x="1541761" y="49560"/>
                    <a:pt x="1541761" y="67449"/>
                  </a:cubicBezTo>
                  <a:lnTo>
                    <a:pt x="1541761" y="830418"/>
                  </a:lnTo>
                  <a:cubicBezTo>
                    <a:pt x="1541761" y="867669"/>
                    <a:pt x="1511563" y="897867"/>
                    <a:pt x="1474312" y="897867"/>
                  </a:cubicBezTo>
                  <a:lnTo>
                    <a:pt x="67449" y="897867"/>
                  </a:lnTo>
                  <a:cubicBezTo>
                    <a:pt x="49560" y="897867"/>
                    <a:pt x="32405" y="890760"/>
                    <a:pt x="19755" y="878111"/>
                  </a:cubicBezTo>
                  <a:cubicBezTo>
                    <a:pt x="7106" y="865462"/>
                    <a:pt x="0" y="848306"/>
                    <a:pt x="0" y="830418"/>
                  </a:cubicBezTo>
                  <a:lnTo>
                    <a:pt x="0" y="67449"/>
                  </a:lnTo>
                  <a:cubicBezTo>
                    <a:pt x="0" y="30198"/>
                    <a:pt x="30198" y="0"/>
                    <a:pt x="67449" y="0"/>
                  </a:cubicBezTo>
                  <a:close/>
                </a:path>
              </a:pathLst>
            </a:custGeom>
            <a:solidFill>
              <a:srgbClr val="0070C0">
                <a:alpha val="29804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541761" cy="9169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1102728">
            <a:off x="9980502" y="1985788"/>
            <a:ext cx="1351419" cy="1658183"/>
          </a:xfrm>
          <a:custGeom>
            <a:avLst/>
            <a:gdLst/>
            <a:ahLst/>
            <a:cxnLst/>
            <a:rect r="r" b="b" t="t" l="l"/>
            <a:pathLst>
              <a:path h="1658183" w="1351419">
                <a:moveTo>
                  <a:pt x="0" y="0"/>
                </a:moveTo>
                <a:lnTo>
                  <a:pt x="1351418" y="0"/>
                </a:lnTo>
                <a:lnTo>
                  <a:pt x="1351418" y="1658182"/>
                </a:lnTo>
                <a:lnTo>
                  <a:pt x="0" y="16581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647123" y="8056983"/>
            <a:ext cx="1346440" cy="821329"/>
          </a:xfrm>
          <a:custGeom>
            <a:avLst/>
            <a:gdLst/>
            <a:ahLst/>
            <a:cxnLst/>
            <a:rect r="r" b="b" t="t" l="l"/>
            <a:pathLst>
              <a:path h="821329" w="1346440">
                <a:moveTo>
                  <a:pt x="0" y="0"/>
                </a:moveTo>
                <a:lnTo>
                  <a:pt x="1346441" y="0"/>
                </a:lnTo>
                <a:lnTo>
                  <a:pt x="1346441" y="821329"/>
                </a:lnTo>
                <a:lnTo>
                  <a:pt x="0" y="8213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2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7" id="27"/>
          <p:cNvGrpSpPr/>
          <p:nvPr/>
        </p:nvGrpSpPr>
        <p:grpSpPr>
          <a:xfrm rot="0">
            <a:off x="5601859" y="5542717"/>
            <a:ext cx="5861613" cy="3409088"/>
            <a:chOff x="0" y="0"/>
            <a:chExt cx="1543799" cy="89786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43799" cy="897867"/>
            </a:xfrm>
            <a:custGeom>
              <a:avLst/>
              <a:gdLst/>
              <a:ahLst/>
              <a:cxnLst/>
              <a:rect r="r" b="b" t="t" l="l"/>
              <a:pathLst>
                <a:path h="897867" w="1543799">
                  <a:moveTo>
                    <a:pt x="67360" y="0"/>
                  </a:moveTo>
                  <a:lnTo>
                    <a:pt x="1476439" y="0"/>
                  </a:lnTo>
                  <a:cubicBezTo>
                    <a:pt x="1494304" y="0"/>
                    <a:pt x="1511438" y="7097"/>
                    <a:pt x="1524070" y="19729"/>
                  </a:cubicBezTo>
                  <a:cubicBezTo>
                    <a:pt x="1536702" y="32362"/>
                    <a:pt x="1543799" y="49495"/>
                    <a:pt x="1543799" y="67360"/>
                  </a:cubicBezTo>
                  <a:lnTo>
                    <a:pt x="1543799" y="830507"/>
                  </a:lnTo>
                  <a:cubicBezTo>
                    <a:pt x="1543799" y="848372"/>
                    <a:pt x="1536702" y="865505"/>
                    <a:pt x="1524070" y="878137"/>
                  </a:cubicBezTo>
                  <a:cubicBezTo>
                    <a:pt x="1511438" y="890770"/>
                    <a:pt x="1494304" y="897867"/>
                    <a:pt x="1476439" y="897867"/>
                  </a:cubicBezTo>
                  <a:lnTo>
                    <a:pt x="67360" y="897867"/>
                  </a:lnTo>
                  <a:cubicBezTo>
                    <a:pt x="49495" y="897867"/>
                    <a:pt x="32362" y="890770"/>
                    <a:pt x="19729" y="878137"/>
                  </a:cubicBezTo>
                  <a:cubicBezTo>
                    <a:pt x="7097" y="865505"/>
                    <a:pt x="0" y="848372"/>
                    <a:pt x="0" y="830507"/>
                  </a:cubicBezTo>
                  <a:lnTo>
                    <a:pt x="0" y="67360"/>
                  </a:lnTo>
                  <a:cubicBezTo>
                    <a:pt x="0" y="49495"/>
                    <a:pt x="7097" y="32362"/>
                    <a:pt x="19729" y="19729"/>
                  </a:cubicBezTo>
                  <a:cubicBezTo>
                    <a:pt x="32362" y="7097"/>
                    <a:pt x="49495" y="0"/>
                    <a:pt x="67360" y="0"/>
                  </a:cubicBezTo>
                  <a:close/>
                </a:path>
              </a:pathLst>
            </a:custGeom>
            <a:solidFill>
              <a:srgbClr val="0070C0">
                <a:alpha val="3098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1543799" cy="9169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028700" y="5137848"/>
            <a:ext cx="3740463" cy="3740463"/>
          </a:xfrm>
          <a:custGeom>
            <a:avLst/>
            <a:gdLst/>
            <a:ahLst/>
            <a:cxnLst/>
            <a:rect r="r" b="b" t="t" l="l"/>
            <a:pathLst>
              <a:path h="3740463" w="3740463">
                <a:moveTo>
                  <a:pt x="0" y="0"/>
                </a:moveTo>
                <a:lnTo>
                  <a:pt x="3740463" y="0"/>
                </a:lnTo>
                <a:lnTo>
                  <a:pt x="3740463" y="3740464"/>
                </a:lnTo>
                <a:lnTo>
                  <a:pt x="0" y="37404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752475" y="2603304"/>
            <a:ext cx="4168304" cy="22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</a:p>
          <a:p>
            <a:pPr algn="l" marL="467916" indent="-233958" lvl="1">
              <a:lnSpc>
                <a:spcPts val="3034"/>
              </a:lnSpc>
              <a:buFont typeface="Arial"/>
              <a:buChar char="•"/>
            </a:pPr>
            <a:r>
              <a:rPr lang="en-US" sz="21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Modern web architecture</a:t>
            </a:r>
          </a:p>
          <a:p>
            <a:pPr algn="l" marL="467916" indent="-233958" lvl="1">
              <a:lnSpc>
                <a:spcPts val="3034"/>
              </a:lnSpc>
              <a:buFont typeface="Arial"/>
              <a:buChar char="•"/>
            </a:pPr>
            <a:r>
              <a:rPr lang="en-US" sz="21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Cloud-hosted PostgreSQL</a:t>
            </a:r>
          </a:p>
          <a:p>
            <a:pPr algn="l" marL="467916" indent="-233958" lvl="1">
              <a:lnSpc>
                <a:spcPts val="3034"/>
              </a:lnSpc>
              <a:buFont typeface="Arial"/>
              <a:buChar char="•"/>
            </a:pPr>
            <a:r>
              <a:rPr lang="en-US" sz="21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Modular React architecture</a:t>
            </a:r>
          </a:p>
          <a:p>
            <a:pPr algn="l" marL="467916" indent="-233958" lvl="1">
              <a:lnSpc>
                <a:spcPts val="3034"/>
              </a:lnSpc>
              <a:buFont typeface="Arial"/>
              <a:buChar char="•"/>
            </a:pPr>
            <a:r>
              <a:rPr lang="en-US" sz="21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API-based AI integration</a:t>
            </a:r>
          </a:p>
          <a:p>
            <a:pPr algn="l" marL="467916" indent="-233958" lvl="1">
              <a:lnSpc>
                <a:spcPts val="3034"/>
              </a:lnSpc>
              <a:buFont typeface="Arial"/>
              <a:buChar char="•"/>
            </a:pPr>
            <a:r>
              <a:rPr lang="en-US" sz="21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Responsive web application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52475" y="2217979"/>
            <a:ext cx="2851175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Technologies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037864" y="2511666"/>
            <a:ext cx="4160862" cy="2650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</a:p>
          <a:p>
            <a:pPr algn="l" marL="467916" indent="-233958" lvl="1">
              <a:lnSpc>
                <a:spcPts val="3034"/>
              </a:lnSpc>
              <a:buFont typeface="Arial"/>
              <a:buChar char="•"/>
            </a:pPr>
            <a:r>
              <a:rPr lang="en-US" sz="21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JWT-based sessions</a:t>
            </a:r>
          </a:p>
          <a:p>
            <a:pPr algn="l" marL="467916" indent="-233958" lvl="1">
              <a:lnSpc>
                <a:spcPts val="3034"/>
              </a:lnSpc>
              <a:buFont typeface="Arial"/>
              <a:buChar char="•"/>
            </a:pPr>
            <a:r>
              <a:rPr lang="en-US" sz="21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Row-Level Security</a:t>
            </a:r>
          </a:p>
          <a:p>
            <a:pPr algn="l" marL="467916" indent="-233958" lvl="1">
              <a:lnSpc>
                <a:spcPts val="3034"/>
              </a:lnSpc>
              <a:buFont typeface="Arial"/>
              <a:buChar char="•"/>
            </a:pPr>
            <a:r>
              <a:rPr lang="en-US" sz="21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Dedicated role table</a:t>
            </a:r>
          </a:p>
          <a:p>
            <a:pPr algn="l" marL="467916" indent="-233958" lvl="1">
              <a:lnSpc>
                <a:spcPts val="3034"/>
              </a:lnSpc>
              <a:buFont typeface="Arial"/>
              <a:buChar char="•"/>
            </a:pPr>
            <a:r>
              <a:rPr lang="en-US" sz="21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has_role()` security function</a:t>
            </a:r>
          </a:p>
          <a:p>
            <a:pPr algn="l" marL="467916" indent="-233958" lvl="1">
              <a:lnSpc>
                <a:spcPts val="3034"/>
              </a:lnSpc>
              <a:buFont typeface="Arial"/>
              <a:buChar char="•"/>
            </a:pPr>
            <a:r>
              <a:rPr lang="en-US" sz="21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Audit logging</a:t>
            </a:r>
          </a:p>
          <a:p>
            <a:pPr algn="l" marL="467916" indent="-233958" lvl="1">
              <a:lnSpc>
                <a:spcPts val="3034"/>
              </a:lnSpc>
              <a:buFont typeface="Arial"/>
              <a:buChar char="•"/>
            </a:pPr>
            <a:r>
              <a:rPr lang="en-US" sz="21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Protected routes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085489" y="2126189"/>
            <a:ext cx="1816150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Security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037864" y="6579596"/>
            <a:ext cx="5417867" cy="1888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7916" indent="-233958" lvl="1">
              <a:lnSpc>
                <a:spcPts val="3034"/>
              </a:lnSpc>
              <a:buFont typeface="Arial"/>
              <a:buChar char="•"/>
            </a:pPr>
            <a:r>
              <a:rPr lang="en-US" sz="21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Three clearly defined user roles</a:t>
            </a:r>
          </a:p>
          <a:p>
            <a:pPr algn="l" marL="467916" indent="-233958" lvl="1">
              <a:lnSpc>
                <a:spcPts val="3034"/>
              </a:lnSpc>
              <a:buFont typeface="Arial"/>
              <a:buChar char="•"/>
            </a:pPr>
            <a:r>
              <a:rPr lang="en-US" sz="21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Trainers can manage courses</a:t>
            </a:r>
          </a:p>
          <a:p>
            <a:pPr algn="l" marL="467916" indent="-233958" lvl="1">
              <a:lnSpc>
                <a:spcPts val="3034"/>
              </a:lnSpc>
              <a:buFont typeface="Arial"/>
              <a:buChar char="•"/>
            </a:pPr>
            <a:r>
              <a:rPr lang="en-US" sz="21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Administrators can manage users and institutional data</a:t>
            </a:r>
          </a:p>
          <a:p>
            <a:pPr algn="l" marL="467916" indent="-233958" lvl="1">
              <a:lnSpc>
                <a:spcPts val="3034"/>
              </a:lnSpc>
              <a:buFont typeface="Arial"/>
              <a:buChar char="•"/>
            </a:pPr>
            <a:r>
              <a:rPr lang="en-US" sz="21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Learners have self-service learning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114064" y="5782671"/>
            <a:ext cx="2588940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Operational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5612" y="1694828"/>
            <a:ext cx="5879773" cy="7839697"/>
          </a:xfrm>
          <a:custGeom>
            <a:avLst/>
            <a:gdLst/>
            <a:ahLst/>
            <a:cxnLst/>
            <a:rect r="r" b="b" t="t" l="l"/>
            <a:pathLst>
              <a:path h="7839697" w="5879773">
                <a:moveTo>
                  <a:pt x="0" y="0"/>
                </a:moveTo>
                <a:lnTo>
                  <a:pt x="5879772" y="0"/>
                </a:lnTo>
                <a:lnTo>
                  <a:pt x="5879772" y="7839697"/>
                </a:lnTo>
                <a:lnTo>
                  <a:pt x="0" y="7839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601200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6408001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Capacity Connect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Sankalp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292810" y="5614677"/>
            <a:ext cx="6813985" cy="2556324"/>
            <a:chOff x="0" y="0"/>
            <a:chExt cx="1794630" cy="6732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94630" cy="673271"/>
            </a:xfrm>
            <a:custGeom>
              <a:avLst/>
              <a:gdLst/>
              <a:ahLst/>
              <a:cxnLst/>
              <a:rect r="r" b="b" t="t" l="l"/>
              <a:pathLst>
                <a:path h="673271" w="1794630">
                  <a:moveTo>
                    <a:pt x="57945" y="0"/>
                  </a:moveTo>
                  <a:lnTo>
                    <a:pt x="1736684" y="0"/>
                  </a:lnTo>
                  <a:cubicBezTo>
                    <a:pt x="1768687" y="0"/>
                    <a:pt x="1794630" y="25943"/>
                    <a:pt x="1794630" y="57945"/>
                  </a:cubicBezTo>
                  <a:lnTo>
                    <a:pt x="1794630" y="615325"/>
                  </a:lnTo>
                  <a:cubicBezTo>
                    <a:pt x="1794630" y="630693"/>
                    <a:pt x="1788525" y="645432"/>
                    <a:pt x="1777658" y="656299"/>
                  </a:cubicBezTo>
                  <a:cubicBezTo>
                    <a:pt x="1766791" y="667166"/>
                    <a:pt x="1752052" y="673271"/>
                    <a:pt x="1736684" y="673271"/>
                  </a:cubicBezTo>
                  <a:lnTo>
                    <a:pt x="57945" y="673271"/>
                  </a:lnTo>
                  <a:cubicBezTo>
                    <a:pt x="42577" y="673271"/>
                    <a:pt x="27839" y="667166"/>
                    <a:pt x="16972" y="656299"/>
                  </a:cubicBezTo>
                  <a:cubicBezTo>
                    <a:pt x="6105" y="645432"/>
                    <a:pt x="0" y="630693"/>
                    <a:pt x="0" y="615325"/>
                  </a:cubicBezTo>
                  <a:lnTo>
                    <a:pt x="0" y="57945"/>
                  </a:lnTo>
                  <a:cubicBezTo>
                    <a:pt x="0" y="42577"/>
                    <a:pt x="6105" y="27839"/>
                    <a:pt x="16972" y="16972"/>
                  </a:cubicBezTo>
                  <a:cubicBezTo>
                    <a:pt x="27839" y="6105"/>
                    <a:pt x="42577" y="0"/>
                    <a:pt x="57945" y="0"/>
                  </a:cubicBezTo>
                  <a:close/>
                </a:path>
              </a:pathLst>
            </a:custGeom>
            <a:solidFill>
              <a:srgbClr val="0070C0">
                <a:alpha val="19608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794630" cy="692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883597" y="2369042"/>
            <a:ext cx="2770659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 Trainees: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44066" y="3030471"/>
            <a:ext cx="4104617" cy="2843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1980" indent="-290990" lvl="1">
              <a:lnSpc>
                <a:spcPts val="3773"/>
              </a:lnSpc>
              <a:buFont typeface="Arial"/>
              <a:buChar char="•"/>
            </a:pPr>
            <a:r>
              <a:rPr lang="en-US" sz="26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Personalized learning</a:t>
            </a:r>
          </a:p>
          <a:p>
            <a:pPr algn="l" marL="581980" indent="-290990" lvl="1">
              <a:lnSpc>
                <a:spcPts val="3773"/>
              </a:lnSpc>
              <a:buFont typeface="Arial"/>
              <a:buChar char="•"/>
            </a:pPr>
            <a:r>
              <a:rPr lang="en-US" sz="26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Self-paced courses</a:t>
            </a:r>
          </a:p>
          <a:p>
            <a:pPr algn="l" marL="581980" indent="-290990" lvl="1">
              <a:lnSpc>
                <a:spcPts val="3773"/>
              </a:lnSpc>
              <a:buFont typeface="Arial"/>
              <a:buChar char="•"/>
            </a:pPr>
            <a:r>
              <a:rPr lang="en-US" sz="26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Timed assessments</a:t>
            </a:r>
          </a:p>
          <a:p>
            <a:pPr algn="l" marL="581980" indent="-290990" lvl="1">
              <a:lnSpc>
                <a:spcPts val="3773"/>
              </a:lnSpc>
              <a:buFont typeface="Arial"/>
              <a:buChar char="•"/>
            </a:pPr>
            <a:r>
              <a:rPr lang="en-US" sz="26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Progress tracking</a:t>
            </a:r>
          </a:p>
          <a:p>
            <a:pPr algn="l" marL="581980" indent="-290990" lvl="1">
              <a:lnSpc>
                <a:spcPts val="3773"/>
              </a:lnSpc>
              <a:buFont typeface="Arial"/>
              <a:buChar char="•"/>
            </a:pPr>
            <a:r>
              <a:rPr lang="en-US" sz="26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Certificates</a:t>
            </a:r>
          </a:p>
          <a:p>
            <a:pPr algn="l" marL="581980" indent="-290990" lvl="1">
              <a:lnSpc>
                <a:spcPts val="3773"/>
              </a:lnSpc>
              <a:buFont typeface="Arial"/>
              <a:buChar char="•"/>
            </a:pPr>
            <a:r>
              <a:rPr lang="en-US" sz="26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 assistant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757347" y="2369042"/>
            <a:ext cx="2698105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 Trainers: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78301" y="3030471"/>
            <a:ext cx="6147870" cy="1891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1980" indent="-290990" lvl="1">
              <a:lnSpc>
                <a:spcPts val="3773"/>
              </a:lnSpc>
              <a:buFont typeface="Arial"/>
              <a:buChar char="•"/>
            </a:pPr>
            <a:r>
              <a:rPr lang="en-US" sz="26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Course creation and management</a:t>
            </a:r>
          </a:p>
          <a:p>
            <a:pPr algn="l" marL="581980" indent="-290990" lvl="1">
              <a:lnSpc>
                <a:spcPts val="3773"/>
              </a:lnSpc>
              <a:buFont typeface="Arial"/>
              <a:buChar char="•"/>
            </a:pPr>
            <a:r>
              <a:rPr lang="en-US" sz="26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AI-generated quizzes</a:t>
            </a:r>
          </a:p>
          <a:p>
            <a:pPr algn="l" marL="581980" indent="-290990" lvl="1">
              <a:lnSpc>
                <a:spcPts val="3773"/>
              </a:lnSpc>
              <a:buFont typeface="Arial"/>
              <a:buChar char="•"/>
            </a:pPr>
            <a:r>
              <a:rPr lang="en-US" sz="26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Learner progress monitoring</a:t>
            </a:r>
          </a:p>
          <a:p>
            <a:pPr algn="l" marL="581980" indent="-290990" lvl="1">
              <a:lnSpc>
                <a:spcPts val="3773"/>
              </a:lnSpc>
              <a:buFont typeface="Arial"/>
              <a:buChar char="•"/>
            </a:pPr>
            <a:r>
              <a:rPr lang="en-US" sz="26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Course analytics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151091" y="6597577"/>
            <a:ext cx="2362795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 Admin: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44066" y="7259006"/>
            <a:ext cx="4160429" cy="1891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1980" indent="-290990" lvl="1">
              <a:lnSpc>
                <a:spcPts val="3773"/>
              </a:lnSpc>
              <a:buFont typeface="Arial"/>
              <a:buChar char="•"/>
            </a:pPr>
            <a:r>
              <a:rPr lang="en-US" sz="26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 management</a:t>
            </a:r>
          </a:p>
          <a:p>
            <a:pPr algn="l" marL="581980" indent="-290990" lvl="1">
              <a:lnSpc>
                <a:spcPts val="3773"/>
              </a:lnSpc>
              <a:buFont typeface="Arial"/>
              <a:buChar char="•"/>
            </a:pPr>
            <a:r>
              <a:rPr lang="en-US" sz="26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Role assignment</a:t>
            </a:r>
          </a:p>
          <a:p>
            <a:pPr algn="l" marL="581980" indent="-290990" lvl="1">
              <a:lnSpc>
                <a:spcPts val="3773"/>
              </a:lnSpc>
              <a:buFont typeface="Arial"/>
              <a:buChar char="•"/>
            </a:pPr>
            <a:r>
              <a:rPr lang="en-US" sz="26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Institutional analytics</a:t>
            </a:r>
          </a:p>
          <a:p>
            <a:pPr algn="l" marL="581980" indent="-290990" lvl="1">
              <a:lnSpc>
                <a:spcPts val="3773"/>
              </a:lnSpc>
              <a:buFont typeface="Arial"/>
              <a:buChar char="•"/>
            </a:pPr>
            <a:r>
              <a:rPr lang="en-US" sz="26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Centralized oversight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597790" y="5796162"/>
            <a:ext cx="6204025" cy="218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9"/>
              </a:lnSpc>
            </a:pPr>
            <a:r>
              <a:rPr lang="en-US" sz="312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One platform → Every learner → Personalized growth → Measurable institutional capacity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19140" y="4514262"/>
            <a:ext cx="10649719" cy="6692713"/>
          </a:xfrm>
          <a:custGeom>
            <a:avLst/>
            <a:gdLst/>
            <a:ahLst/>
            <a:cxnLst/>
            <a:rect r="r" b="b" t="t" l="l"/>
            <a:pathLst>
              <a:path h="6692713" w="10649719">
                <a:moveTo>
                  <a:pt x="0" y="0"/>
                </a:moveTo>
                <a:lnTo>
                  <a:pt x="10649720" y="0"/>
                </a:lnTo>
                <a:lnTo>
                  <a:pt x="10649720" y="6692714"/>
                </a:lnTo>
                <a:lnTo>
                  <a:pt x="0" y="66927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47625" cap="rnd">
            <a:solidFill>
              <a:srgbClr val="000000"/>
            </a:solidFill>
            <a:prstDash val="solid"/>
            <a:round/>
          </a:ln>
        </p:spPr>
      </p:sp>
      <p:grpSp>
        <p:nvGrpSpPr>
          <p:cNvPr name="Group 3" id="3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6107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6408001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Capacity Connect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Sankalp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1933598" y="3115441"/>
            <a:ext cx="1645672" cy="1398822"/>
          </a:xfrm>
          <a:custGeom>
            <a:avLst/>
            <a:gdLst/>
            <a:ahLst/>
            <a:cxnLst/>
            <a:rect r="r" b="b" t="t" l="l"/>
            <a:pathLst>
              <a:path h="1398822" w="1645672">
                <a:moveTo>
                  <a:pt x="0" y="0"/>
                </a:moveTo>
                <a:lnTo>
                  <a:pt x="1645672" y="0"/>
                </a:lnTo>
                <a:lnTo>
                  <a:pt x="1645672" y="1398821"/>
                </a:lnTo>
                <a:lnTo>
                  <a:pt x="0" y="13988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990170" y="2122103"/>
            <a:ext cx="830766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8" tooltip="https://github.com/radhakrishna131/Hackathon"/>
              </a:rPr>
              <a:t>github.com/radhakrishna131/Hackathon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85570" y="2859905"/>
            <a:ext cx="613372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9" tooltip="https://sankalp-sih.vercel.app"/>
              </a:rPr>
              <a:t>https://sankalp-sih.vercel.app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6469" y="2869430"/>
            <a:ext cx="454703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2"/>
              </a:lnSpc>
            </a:pPr>
            <a:r>
              <a:rPr lang="en-US" sz="337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Prototype Live Demo: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6469" y="4447587"/>
            <a:ext cx="203872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2"/>
              </a:lnSpc>
            </a:pPr>
            <a:r>
              <a:rPr lang="en-US" sz="337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Research: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2483" y="5075602"/>
            <a:ext cx="2463732" cy="2591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8391" indent="-319196" lvl="1">
              <a:lnSpc>
                <a:spcPts val="4139"/>
              </a:lnSpc>
              <a:buFont typeface="Arial"/>
              <a:buChar char="•"/>
            </a:pPr>
            <a:r>
              <a:rPr lang="en-US" sz="29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Perplexity</a:t>
            </a:r>
          </a:p>
          <a:p>
            <a:pPr algn="l" marL="638391" indent="-319196" lvl="1">
              <a:lnSpc>
                <a:spcPts val="4139"/>
              </a:lnSpc>
              <a:buFont typeface="Arial"/>
              <a:buChar char="•"/>
            </a:pPr>
            <a:r>
              <a:rPr lang="en-US" sz="29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Google</a:t>
            </a:r>
          </a:p>
          <a:p>
            <a:pPr algn="l" marL="638391" indent="-319196" lvl="1">
              <a:lnSpc>
                <a:spcPts val="4139"/>
              </a:lnSpc>
              <a:buFont typeface="Arial"/>
              <a:buChar char="•"/>
            </a:pPr>
            <a:r>
              <a:rPr lang="en-US" sz="29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Gemini</a:t>
            </a:r>
          </a:p>
          <a:p>
            <a:pPr algn="l" marL="638391" indent="-319196" lvl="1">
              <a:lnSpc>
                <a:spcPts val="4139"/>
              </a:lnSpc>
              <a:buFont typeface="Arial"/>
              <a:buChar char="•"/>
            </a:pPr>
            <a:r>
              <a:rPr lang="en-US" sz="29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Reddit</a:t>
            </a:r>
          </a:p>
          <a:p>
            <a:pPr algn="l" marL="638391" indent="-319196" lvl="1">
              <a:lnSpc>
                <a:spcPts val="4139"/>
              </a:lnSpc>
              <a:buFont typeface="Arial"/>
              <a:buChar char="•"/>
            </a:pPr>
            <a:r>
              <a:rPr lang="en-US" sz="29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youtube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93927" y="4573952"/>
            <a:ext cx="512717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 Features reference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670129" y="5086350"/>
            <a:ext cx="4493254" cy="2591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8391" indent="-319196" lvl="1">
              <a:lnSpc>
                <a:spcPts val="4139"/>
              </a:lnSpc>
              <a:buFont typeface="Arial"/>
              <a:buChar char="•"/>
            </a:pPr>
            <a:r>
              <a:rPr lang="en-US" sz="29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Swayam</a:t>
            </a:r>
          </a:p>
          <a:p>
            <a:pPr algn="l" marL="638391" indent="-319196" lvl="1">
              <a:lnSpc>
                <a:spcPts val="4139"/>
              </a:lnSpc>
              <a:buFont typeface="Arial"/>
              <a:buChar char="•"/>
            </a:pPr>
            <a:r>
              <a:rPr lang="en-US" sz="29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Scaler </a:t>
            </a:r>
          </a:p>
          <a:p>
            <a:pPr algn="l" marL="638391" indent="-319196" lvl="1">
              <a:lnSpc>
                <a:spcPts val="4139"/>
              </a:lnSpc>
              <a:buFont typeface="Arial"/>
              <a:buChar char="•"/>
            </a:pPr>
            <a:r>
              <a:rPr lang="en-US" sz="29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nptel</a:t>
            </a:r>
          </a:p>
          <a:p>
            <a:pPr algn="l" marL="638391" indent="-319196" lvl="1">
              <a:lnSpc>
                <a:spcPts val="4139"/>
              </a:lnSpc>
              <a:buFont typeface="Arial"/>
              <a:buChar char="•"/>
            </a:pPr>
            <a:r>
              <a:rPr lang="en-US" sz="29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FreeCodeCamp</a:t>
            </a:r>
          </a:p>
          <a:p>
            <a:pPr algn="l" marL="638391" indent="-319196" lvl="1">
              <a:lnSpc>
                <a:spcPts val="4139"/>
              </a:lnSpc>
              <a:buFont typeface="Arial"/>
              <a:buChar char="•"/>
            </a:pPr>
            <a:r>
              <a:rPr lang="en-US" sz="29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coursera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2122103"/>
            <a:ext cx="390587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2"/>
              </a:lnSpc>
            </a:pPr>
            <a:r>
              <a:rPr lang="en-US" sz="337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GitHub repository: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3923" y="3621270"/>
            <a:ext cx="356682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2"/>
              </a:lnSpc>
            </a:pPr>
            <a:r>
              <a:rPr lang="en-US" sz="337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 Taken: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839320" y="3621270"/>
            <a:ext cx="501446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10" tooltip="https://www.techsnap.in"/>
              </a:rPr>
              <a:t>https://www.techsnap.in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DAHUJs7NCxQ</dc:identifier>
  <dcterms:modified xsi:type="dcterms:W3CDTF">2011-08-01T06:04:30Z</dcterms:modified>
  <cp:revision>1</cp:revision>
  <dc:title>SIH2026-IDEA-Presentation-Format.pptx</dc:title>
</cp:coreProperties>
</file>